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2" r:id="rId6"/>
    <p:sldId id="263" r:id="rId7"/>
    <p:sldId id="265" r:id="rId8"/>
    <p:sldId id="259" r:id="rId9"/>
    <p:sldId id="260" r:id="rId10"/>
    <p:sldId id="267" r:id="rId11"/>
    <p:sldId id="261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726"/>
  </p:normalViewPr>
  <p:slideViewPr>
    <p:cSldViewPr snapToGrid="0">
      <p:cViewPr varScale="1">
        <p:scale>
          <a:sx n="96" d="100"/>
          <a:sy n="96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2C7C-4F40-E8DF-4105-FAE6C52DF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ABBF9-2A32-F3C0-9ECB-221E9F33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6074A-F309-D370-959E-AE6DD82B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726A0-BCE3-F5C6-BA08-A92B161E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7A61-0429-35AA-7BC1-8E1D1012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5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CFE2C-FC8A-51DB-A2FA-F4348FFFC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27F5-E91B-605F-6CF8-49EE4219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9557B-E658-CE7F-A166-BCC62036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7971B-A2DD-6A84-63F1-C78B589C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FC19-6EEA-70B2-73AE-CECC6EB6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8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7484-3875-16CB-D474-4618C8B4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1231-EDF6-03BD-D34B-EBA59F82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39CB9-60F2-C150-0D6A-74E49A47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F9CD-1BB8-1732-7D3B-60618A24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3872A-CDF2-38F0-DB29-1F4BE865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1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9290-5921-3C65-45EA-D1F64FBB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0E066-BD77-3A83-0A1B-0B3F6B7CC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89A79-82E0-F3AA-365A-F9D8E9634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67BDF-3491-3BFD-2A23-26C92397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01FC4-9E7C-E771-7D2C-1756B25F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8D7B2-B613-72F5-FDFB-284A973A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18C67-DD20-9F93-2BC8-1E81DFE1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8A02-2E26-A951-346F-F0A4B454A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34649-9789-05B2-4833-4137BFF4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23F79-6965-A997-014E-557DFB0B4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6B49D-F294-4531-93F9-454D7DA58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7B66B-4A99-251B-B4A1-E38BD463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B339B-2FFD-787D-3763-1640D7A8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49944-7A33-7768-E307-B06ACF1F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1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E586-61E0-B2A9-EB56-40FE7D30D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4E873-2469-56E0-DE46-C5399DD4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B5151-4141-1F83-DA23-72AE5165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E5D45-B7D8-750D-8632-02B91B4D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8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E1148-F63B-126C-5DA3-D88A65C2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A4DE8-FB97-C03B-3796-3DBC1A15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CC1E8-68CF-77E1-E987-E56008E6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99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CFDB-08CB-8BF5-A845-5C5CDEDB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78F3F-C6FD-86FA-B828-351DEB850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3EF23-8A3C-0CC9-3305-F6AA47438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2A5C-5355-A0DB-B51D-5CF2D5E23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47D4D-2C93-CEB8-C657-F808EB42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32E87-4CE4-D139-C76B-A90D06FC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85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AEE3-E95C-82E7-613D-529B3879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FB459-E58D-9711-CEEB-25DDDCCD8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5D712-8A89-86C6-5964-5DCE9B117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B8A29-C074-7F1B-AE4F-F3A7D66F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B8CC1-C970-5E9C-E9CC-D34665D7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236BA-6666-06D9-C9D8-0BFE7D38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6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22A0-A27F-24E5-2463-79167D2BF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6D0F9-D152-9ADF-CD50-9E77B58E7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7BE60-3CA4-B031-57EC-6E0EEF90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E23EC-BFA7-5AF3-7C2F-489BBCDE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78C1A-EF10-97CC-3694-27E32128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4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05FCF-9429-DEBD-7669-007F23D84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80393-FB75-13EB-F475-9A5E57758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57AAD-4188-F46A-E5D1-2271B52F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8376E-F14B-6574-AFD3-1C944DDC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95DCE-250A-D173-B38A-F7E3E5A8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6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E08AB-B97C-618D-D178-84B68695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60D7B-B02A-B5C8-8F01-87138F050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46B2F-7058-7573-CD74-163A655FA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D83A4-BF05-2341-8AE5-CDA776657298}" type="datetimeFigureOut">
              <a:rPr lang="en-US" smtClean="0"/>
              <a:t>4/23/25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224E7-5247-041D-D806-67E672481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79AE1-51C7-4737-94D6-E9A2B8DC7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ED8F0-FDF5-5643-B4ED-0D2F0E06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58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CDCB-DFBE-5A2C-6C98-EAE9B5C17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Anti-Trans Laws and Mental Health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BE7E3-7E71-A3D4-665E-F2D46E233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 Pittman</a:t>
            </a:r>
          </a:p>
          <a:p>
            <a:r>
              <a:rPr lang="en-US" dirty="0"/>
              <a:t>Department of Sociology</a:t>
            </a:r>
          </a:p>
          <a:p>
            <a:r>
              <a:rPr lang="en-US" dirty="0"/>
              <a:t>DOHA Seminar 04/23/25</a:t>
            </a:r>
          </a:p>
        </p:txBody>
      </p:sp>
    </p:spTree>
    <p:extLst>
      <p:ext uri="{BB962C8B-B14F-4D97-AF65-F5344CB8AC3E}">
        <p14:creationId xmlns:p14="http://schemas.microsoft.com/office/powerpoint/2010/main" val="324700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CCA0-CC94-8EE1-AB74-C01E67A3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58B09-0331-C4F2-7F47-D60A0451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6" t="12228" r="11759" b="6426"/>
          <a:stretch/>
        </p:blipFill>
        <p:spPr>
          <a:xfrm>
            <a:off x="2396600" y="1469888"/>
            <a:ext cx="7398800" cy="538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3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09DA-C437-76B9-7B32-A1D95728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58D5-B50E-A21F-4D38-55282E96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8005C-5F9F-86F8-9691-5969D0B5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457" y="1486230"/>
            <a:ext cx="7355086" cy="500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C720-A4A3-8F0D-4FCB-B7E354D2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CB34-591F-43D5-9D39-AACB9262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question in sociology: how do trans/gender non-conforming folks fit into our theories of structural oppression?</a:t>
            </a:r>
          </a:p>
          <a:p>
            <a:pPr lvl="1"/>
            <a:r>
              <a:rPr lang="en-US" dirty="0"/>
              <a:t>Structural sexism </a:t>
            </a:r>
            <a:r>
              <a:rPr lang="en-US" sz="1800" dirty="0"/>
              <a:t>(Homan, 2019)</a:t>
            </a:r>
          </a:p>
          <a:p>
            <a:pPr lvl="1"/>
            <a:r>
              <a:rPr lang="en-US" dirty="0"/>
              <a:t>Structural stigma </a:t>
            </a:r>
            <a:r>
              <a:rPr lang="en-US" sz="1800" dirty="0"/>
              <a:t>(Hatzenbuehler, 2016)</a:t>
            </a:r>
          </a:p>
          <a:p>
            <a:pPr lvl="1"/>
            <a:r>
              <a:rPr lang="en-US" dirty="0"/>
              <a:t>Structural </a:t>
            </a:r>
            <a:r>
              <a:rPr lang="en-US" dirty="0" err="1"/>
              <a:t>cisheterosexism</a:t>
            </a:r>
            <a:r>
              <a:rPr lang="en-US" dirty="0"/>
              <a:t> </a:t>
            </a:r>
            <a:r>
              <a:rPr lang="en-US" sz="1800" dirty="0"/>
              <a:t>(Zubizarreta et al., 2024)</a:t>
            </a:r>
          </a:p>
        </p:txBody>
      </p:sp>
    </p:spTree>
    <p:extLst>
      <p:ext uri="{BB962C8B-B14F-4D97-AF65-F5344CB8AC3E}">
        <p14:creationId xmlns:p14="http://schemas.microsoft.com/office/powerpoint/2010/main" val="179563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542A-8B71-D542-9E19-0159084C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866D6-FD32-F7A8-17E9-A965EA73C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00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do anti-trans policies impact the mental health of trans and gender non-conforming folks at the population level?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784A93A0-6311-CBB1-3380-8E095B553BFA}"/>
              </a:ext>
            </a:extLst>
          </p:cNvPr>
          <p:cNvSpPr/>
          <p:nvPr/>
        </p:nvSpPr>
        <p:spPr>
          <a:xfrm>
            <a:off x="5348177" y="3072809"/>
            <a:ext cx="467832" cy="13503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BB69E-532F-B560-A691-68EFDC147767}"/>
              </a:ext>
            </a:extLst>
          </p:cNvPr>
          <p:cNvSpPr txBox="1"/>
          <p:nvPr/>
        </p:nvSpPr>
        <p:spPr>
          <a:xfrm>
            <a:off x="838201" y="5433391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Are the effects of these structural changes different for trans/gender non-conforming folks than for cisgender queer folks? For women?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5561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2959-76F4-9F81-F316-23F92BE1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F7F8D-0992-4319-6AC1-4DCFC287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Movement Advancement Project</a:t>
            </a:r>
          </a:p>
          <a:p>
            <a:pPr lvl="1"/>
            <a:r>
              <a:rPr lang="en-US" dirty="0"/>
              <a:t>Anti-trans laws passed in three domains: bathroom bills, sports bills, and medical care bills</a:t>
            </a:r>
          </a:p>
          <a:p>
            <a:r>
              <a:rPr lang="en-US" dirty="0"/>
              <a:t>Census Bureau’s Household Pulse Survey</a:t>
            </a:r>
          </a:p>
          <a:p>
            <a:pPr lvl="1"/>
            <a:r>
              <a:rPr lang="en-US" dirty="0"/>
              <a:t>Mental health (PHQ-4)</a:t>
            </a:r>
          </a:p>
        </p:txBody>
      </p:sp>
    </p:spTree>
    <p:extLst>
      <p:ext uri="{BB962C8B-B14F-4D97-AF65-F5344CB8AC3E}">
        <p14:creationId xmlns:p14="http://schemas.microsoft.com/office/powerpoint/2010/main" val="324088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CB11-EDD2-51BE-B5B0-336AA128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8821-3519-11B9-25F8-A1CD5C38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8FAA0-57DF-93B7-82A8-DDC378CE9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Anti-Trans Laws</a:t>
            </a:r>
          </a:p>
          <a:p>
            <a:pPr lvl="1"/>
            <a:r>
              <a:rPr lang="en-US" dirty="0"/>
              <a:t>Looking at the effect of the </a:t>
            </a:r>
            <a:r>
              <a:rPr lang="en-US" i="1" dirty="0"/>
              <a:t>first </a:t>
            </a:r>
            <a:r>
              <a:rPr lang="en-US" dirty="0"/>
              <a:t>anti-trans law to pass in a state</a:t>
            </a:r>
          </a:p>
          <a:p>
            <a:pPr lvl="1"/>
            <a:r>
              <a:rPr lang="en-US" dirty="0"/>
              <a:t>16 states passed their first anti-trans law during the study period </a:t>
            </a:r>
            <a:r>
              <a:rPr lang="en-US" sz="1800" dirty="0"/>
              <a:t>(Alaska, Arizona, Georgia, Iowa, Indiana, Kentucky, Louisiana, Missouri, North Dakota, Nebraska, Oklahoma, South Carolina, Texas, Utah, Virginia, Wyoming)</a:t>
            </a:r>
          </a:p>
          <a:p>
            <a:r>
              <a:rPr lang="en-US" dirty="0"/>
              <a:t>HPS</a:t>
            </a:r>
          </a:p>
          <a:p>
            <a:pPr lvl="1"/>
            <a:r>
              <a:rPr lang="en-US" dirty="0"/>
              <a:t>Waves 34-63</a:t>
            </a:r>
          </a:p>
          <a:p>
            <a:pPr lvl="2"/>
            <a:r>
              <a:rPr lang="en-US" dirty="0"/>
              <a:t>approximately monthly, from July 2021 through October 2023</a:t>
            </a:r>
          </a:p>
          <a:p>
            <a:pPr lvl="1"/>
            <a:r>
              <a:rPr lang="en-US" dirty="0"/>
              <a:t>Analysis 1: 51k people, of whom 8k were trans or gender non-conforming</a:t>
            </a:r>
          </a:p>
          <a:p>
            <a:pPr lvl="1"/>
            <a:r>
              <a:rPr lang="en-US" dirty="0"/>
              <a:t>Analysis 2: 679k people, of whom 72k were queer</a:t>
            </a:r>
          </a:p>
          <a:p>
            <a:pPr lvl="1"/>
            <a:r>
              <a:rPr lang="en-US" dirty="0"/>
              <a:t>Analysis 3: 746k people, of whom 429k were AFAB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2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8481-0A5F-12E2-D3C7-A44D86D55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EF3E-1693-FB04-982E-7793EB4D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Difference-in-differences with multiple treatment groups </a:t>
            </a:r>
            <a:r>
              <a:rPr lang="en-US" sz="1800" dirty="0"/>
              <a:t>(Calloway &amp; Sant’Anna)</a:t>
            </a:r>
          </a:p>
          <a:p>
            <a:r>
              <a:rPr lang="en-US" dirty="0"/>
              <a:t>Event-study treatment effect aggregation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2968B3-BEA3-6861-6960-2517B4460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09312"/>
              </p:ext>
            </p:extLst>
          </p:nvPr>
        </p:nvGraphicFramePr>
        <p:xfrm>
          <a:off x="2361609" y="3675517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126">
                  <a:extLst>
                    <a:ext uri="{9D8B030D-6E8A-4147-A177-3AD203B41FA5}">
                      <a16:colId xmlns:a16="http://schemas.microsoft.com/office/drawing/2014/main" val="340334958"/>
                    </a:ext>
                  </a:extLst>
                </a:gridCol>
                <a:gridCol w="1998921">
                  <a:extLst>
                    <a:ext uri="{9D8B030D-6E8A-4147-A177-3AD203B41FA5}">
                      <a16:colId xmlns:a16="http://schemas.microsoft.com/office/drawing/2014/main" val="2485078972"/>
                    </a:ext>
                  </a:extLst>
                </a:gridCol>
                <a:gridCol w="1907953">
                  <a:extLst>
                    <a:ext uri="{9D8B030D-6E8A-4147-A177-3AD203B41FA5}">
                      <a16:colId xmlns:a16="http://schemas.microsoft.com/office/drawing/2014/main" val="2552433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4970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Analysis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0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Treatment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Trans/GNC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603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Comparison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Cisgender LGBQ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Non-queer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204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6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73AA-8D6F-A000-81D7-8B4EB269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5517B-9B1A-D13B-EB16-CBC927509FD6}"/>
              </a:ext>
            </a:extLst>
          </p:cNvPr>
          <p:cNvSpPr txBox="1"/>
          <p:nvPr/>
        </p:nvSpPr>
        <p:spPr>
          <a:xfrm>
            <a:off x="2735971" y="2090172"/>
            <a:ext cx="6553200" cy="267765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</a:t>
            </a:r>
            <a:r>
              <a:rPr lang="en-US" sz="2400" b="1" dirty="0"/>
              <a:t>first anti-trans law </a:t>
            </a:r>
            <a:r>
              <a:rPr lang="en-US" sz="2400" dirty="0"/>
              <a:t>passed in a state </a:t>
            </a:r>
            <a:r>
              <a:rPr lang="en-US" sz="2400" b="1" dirty="0"/>
              <a:t>increases the PHQ-4 score </a:t>
            </a:r>
            <a:r>
              <a:rPr lang="en-US" sz="2400" dirty="0"/>
              <a:t>of transgender / gender non-conforming people in that state </a:t>
            </a:r>
            <a:r>
              <a:rPr lang="en-US" sz="2400" b="1" dirty="0"/>
              <a:t>by 1.42 points </a:t>
            </a:r>
            <a:r>
              <a:rPr lang="en-US" sz="2400" dirty="0"/>
              <a:t>relative to their cisgender queer counterparts. There is </a:t>
            </a:r>
            <a:r>
              <a:rPr lang="en-US" sz="2400" b="1" dirty="0"/>
              <a:t>no detectable effect </a:t>
            </a:r>
            <a:r>
              <a:rPr lang="en-US" sz="2400" dirty="0"/>
              <a:t>on queer people relative to cisgender heterosexual people, nor on women relative to men.</a:t>
            </a:r>
          </a:p>
        </p:txBody>
      </p:sp>
    </p:spTree>
    <p:extLst>
      <p:ext uri="{BB962C8B-B14F-4D97-AF65-F5344CB8AC3E}">
        <p14:creationId xmlns:p14="http://schemas.microsoft.com/office/powerpoint/2010/main" val="2993662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25816C-188A-390E-C3B5-EC32CE81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73" y="123764"/>
            <a:ext cx="7407025" cy="661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9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3AF1-B143-9ED5-6B75-F4FD17F38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4CBE0-9C8C-EC2C-7515-779DC2C4A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Tangible negative health effect of anti-trans laws</a:t>
            </a:r>
          </a:p>
          <a:p>
            <a:r>
              <a:rPr lang="en-US" dirty="0"/>
              <a:t>The difference is not only statistically significant, but practically meaningful</a:t>
            </a:r>
          </a:p>
          <a:p>
            <a:r>
              <a:rPr lang="en-US" dirty="0"/>
              <a:t>Shield laws?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23640-6C63-5C92-7009-950411C6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6" t="12228" r="11759" b="6426"/>
          <a:stretch/>
        </p:blipFill>
        <p:spPr>
          <a:xfrm>
            <a:off x="4611757" y="4001294"/>
            <a:ext cx="3343634" cy="24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3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3C5D-FE54-46B4-FB69-6DCD391F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125" y="2766218"/>
            <a:ext cx="2726635" cy="13255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9120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3FBB-0E98-BDD0-75DF-1D18CBE6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Boring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36525-36FB-ABFC-F3DD-AFF8D3F0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567" y="2155309"/>
            <a:ext cx="4860235" cy="43375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5800B8-9BAB-41AC-E295-D81B82EF8AAF}"/>
              </a:ext>
            </a:extLst>
          </p:cNvPr>
          <p:cNvSpPr txBox="1"/>
          <p:nvPr/>
        </p:nvSpPr>
        <p:spPr>
          <a:xfrm>
            <a:off x="8445508" y="1690688"/>
            <a:ext cx="956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Women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B479C-F0E8-D3CF-BFD6-263064ABF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55310"/>
            <a:ext cx="4860235" cy="4337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9A3FAE-6CF7-5EA8-7582-60F28CDA4D53}"/>
              </a:ext>
            </a:extLst>
          </p:cNvPr>
          <p:cNvSpPr txBox="1"/>
          <p:nvPr/>
        </p:nvSpPr>
        <p:spPr>
          <a:xfrm>
            <a:off x="2581109" y="1690688"/>
            <a:ext cx="137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Queer Folks</a:t>
            </a:r>
          </a:p>
        </p:txBody>
      </p:sp>
    </p:spTree>
    <p:extLst>
      <p:ext uri="{BB962C8B-B14F-4D97-AF65-F5344CB8AC3E}">
        <p14:creationId xmlns:p14="http://schemas.microsoft.com/office/powerpoint/2010/main" val="2547266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366</Words>
  <Application>Microsoft Macintosh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Anti-Trans Laws and Mental Health</vt:lpstr>
      <vt:lpstr>Motivation</vt:lpstr>
      <vt:lpstr>Motivation</vt:lpstr>
      <vt:lpstr>Motivation: Theory</vt:lpstr>
      <vt:lpstr>Research Questions</vt:lpstr>
      <vt:lpstr>Data</vt:lpstr>
      <vt:lpstr>Data: Continued</vt:lpstr>
      <vt:lpstr>Method</vt:lpstr>
      <vt:lpstr>Results</vt:lpstr>
      <vt:lpstr>PowerPoint Presentation</vt:lpstr>
      <vt:lpstr>Discussion</vt:lpstr>
      <vt:lpstr>Thank you!</vt:lpstr>
      <vt:lpstr>Boring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 Pittman</dc:creator>
  <cp:lastModifiedBy>AP Pittman</cp:lastModifiedBy>
  <cp:revision>1</cp:revision>
  <dcterms:created xsi:type="dcterms:W3CDTF">2025-04-24T00:38:42Z</dcterms:created>
  <dcterms:modified xsi:type="dcterms:W3CDTF">2025-04-24T02:40:36Z</dcterms:modified>
</cp:coreProperties>
</file>