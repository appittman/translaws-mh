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6" r:id="rId2"/>
  </p:sldIdLst>
  <p:sldSz cx="21945600" cy="16459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B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4658"/>
  </p:normalViewPr>
  <p:slideViewPr>
    <p:cSldViewPr snapToGrid="0">
      <p:cViewPr>
        <p:scale>
          <a:sx n="61" d="100"/>
          <a:sy n="61" d="100"/>
        </p:scale>
        <p:origin x="160" y="144"/>
      </p:cViewPr>
      <p:guideLst/>
    </p:cSldViewPr>
  </p:slideViewPr>
  <p:notesTextViewPr>
    <p:cViewPr>
      <p:scale>
        <a:sx n="20" d="100"/>
        <a:sy n="2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9627CB-EC93-B444-84E0-923A22D920EA}" type="datetimeFigureOut">
              <a:rPr lang="en-US" smtClean="0"/>
              <a:t>4/7/25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C10E24-41A8-A044-9D6B-B395DD661B96}" type="slidenum">
              <a:rPr lang="en-US" smtClean="0"/>
              <a:t>‹#›</a:t>
            </a:fld>
            <a:endParaRPr lang="en-US"/>
          </a:p>
        </p:txBody>
      </p:sp>
    </p:spTree>
    <p:extLst>
      <p:ext uri="{BB962C8B-B14F-4D97-AF65-F5344CB8AC3E}">
        <p14:creationId xmlns:p14="http://schemas.microsoft.com/office/powerpoint/2010/main" val="2003302624"/>
      </p:ext>
    </p:extLst>
  </p:cSld>
  <p:clrMap bg1="lt1" tx1="dk1" bg2="lt2" tx2="dk2" accent1="accent1" accent2="accent2" accent3="accent3" accent4="accent4" accent5="accent5" accent6="accent6" hlink="hlink" folHlink="folHlink"/>
  <p:notesStyle>
    <a:lvl1pPr marL="0" algn="l" defTabSz="1843430" rtl="0" eaLnBrk="1" latinLnBrk="0" hangingPunct="1">
      <a:defRPr sz="2419" kern="1200">
        <a:solidFill>
          <a:schemeClr val="tx1"/>
        </a:solidFill>
        <a:latin typeface="+mn-lt"/>
        <a:ea typeface="+mn-ea"/>
        <a:cs typeface="+mn-cs"/>
      </a:defRPr>
    </a:lvl1pPr>
    <a:lvl2pPr marL="921715" algn="l" defTabSz="1843430" rtl="0" eaLnBrk="1" latinLnBrk="0" hangingPunct="1">
      <a:defRPr sz="2419" kern="1200">
        <a:solidFill>
          <a:schemeClr val="tx1"/>
        </a:solidFill>
        <a:latin typeface="+mn-lt"/>
        <a:ea typeface="+mn-ea"/>
        <a:cs typeface="+mn-cs"/>
      </a:defRPr>
    </a:lvl2pPr>
    <a:lvl3pPr marL="1843430" algn="l" defTabSz="1843430" rtl="0" eaLnBrk="1" latinLnBrk="0" hangingPunct="1">
      <a:defRPr sz="2419" kern="1200">
        <a:solidFill>
          <a:schemeClr val="tx1"/>
        </a:solidFill>
        <a:latin typeface="+mn-lt"/>
        <a:ea typeface="+mn-ea"/>
        <a:cs typeface="+mn-cs"/>
      </a:defRPr>
    </a:lvl3pPr>
    <a:lvl4pPr marL="2765146" algn="l" defTabSz="1843430" rtl="0" eaLnBrk="1" latinLnBrk="0" hangingPunct="1">
      <a:defRPr sz="2419" kern="1200">
        <a:solidFill>
          <a:schemeClr val="tx1"/>
        </a:solidFill>
        <a:latin typeface="+mn-lt"/>
        <a:ea typeface="+mn-ea"/>
        <a:cs typeface="+mn-cs"/>
      </a:defRPr>
    </a:lvl4pPr>
    <a:lvl5pPr marL="3686861" algn="l" defTabSz="1843430" rtl="0" eaLnBrk="1" latinLnBrk="0" hangingPunct="1">
      <a:defRPr sz="2419" kern="1200">
        <a:solidFill>
          <a:schemeClr val="tx1"/>
        </a:solidFill>
        <a:latin typeface="+mn-lt"/>
        <a:ea typeface="+mn-ea"/>
        <a:cs typeface="+mn-cs"/>
      </a:defRPr>
    </a:lvl5pPr>
    <a:lvl6pPr marL="4608576" algn="l" defTabSz="1843430" rtl="0" eaLnBrk="1" latinLnBrk="0" hangingPunct="1">
      <a:defRPr sz="2419" kern="1200">
        <a:solidFill>
          <a:schemeClr val="tx1"/>
        </a:solidFill>
        <a:latin typeface="+mn-lt"/>
        <a:ea typeface="+mn-ea"/>
        <a:cs typeface="+mn-cs"/>
      </a:defRPr>
    </a:lvl6pPr>
    <a:lvl7pPr marL="5530291" algn="l" defTabSz="1843430" rtl="0" eaLnBrk="1" latinLnBrk="0" hangingPunct="1">
      <a:defRPr sz="2419" kern="1200">
        <a:solidFill>
          <a:schemeClr val="tx1"/>
        </a:solidFill>
        <a:latin typeface="+mn-lt"/>
        <a:ea typeface="+mn-ea"/>
        <a:cs typeface="+mn-cs"/>
      </a:defRPr>
    </a:lvl7pPr>
    <a:lvl8pPr marL="6452006" algn="l" defTabSz="1843430" rtl="0" eaLnBrk="1" latinLnBrk="0" hangingPunct="1">
      <a:defRPr sz="2419" kern="1200">
        <a:solidFill>
          <a:schemeClr val="tx1"/>
        </a:solidFill>
        <a:latin typeface="+mn-lt"/>
        <a:ea typeface="+mn-ea"/>
        <a:cs typeface="+mn-cs"/>
      </a:defRPr>
    </a:lvl8pPr>
    <a:lvl9pPr marL="7373722" algn="l" defTabSz="1843430" rtl="0" eaLnBrk="1" latinLnBrk="0" hangingPunct="1">
      <a:defRPr sz="241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C10E24-41A8-A044-9D6B-B395DD661B96}" type="slidenum">
              <a:rPr lang="en-US" smtClean="0"/>
              <a:t>1</a:t>
            </a:fld>
            <a:endParaRPr lang="en-US"/>
          </a:p>
        </p:txBody>
      </p:sp>
    </p:spTree>
    <p:extLst>
      <p:ext uri="{BB962C8B-B14F-4D97-AF65-F5344CB8AC3E}">
        <p14:creationId xmlns:p14="http://schemas.microsoft.com/office/powerpoint/2010/main" val="2310670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45920" y="2693671"/>
            <a:ext cx="18653760" cy="5730240"/>
          </a:xfrm>
        </p:spPr>
        <p:txBody>
          <a:bodyPr anchor="b"/>
          <a:lstStyle>
            <a:lvl1pPr algn="ctr">
              <a:defRPr sz="14400"/>
            </a:lvl1pPr>
          </a:lstStyle>
          <a:p>
            <a:r>
              <a:rPr lang="en-US"/>
              <a:t>Click to edit Master title style</a:t>
            </a:r>
            <a:endParaRPr lang="en-US" dirty="0"/>
          </a:p>
        </p:txBody>
      </p:sp>
      <p:sp>
        <p:nvSpPr>
          <p:cNvPr id="3" name="Subtitle 2"/>
          <p:cNvSpPr>
            <a:spLocks noGrp="1"/>
          </p:cNvSpPr>
          <p:nvPr>
            <p:ph type="subTitle" idx="1"/>
          </p:nvPr>
        </p:nvSpPr>
        <p:spPr>
          <a:xfrm>
            <a:off x="2743200" y="8644891"/>
            <a:ext cx="16459200" cy="3973829"/>
          </a:xfrm>
        </p:spPr>
        <p:txBody>
          <a:bodyPr/>
          <a:lstStyle>
            <a:lvl1pPr marL="0" indent="0" algn="ctr">
              <a:buNone/>
              <a:defRPr sz="5760"/>
            </a:lvl1pPr>
            <a:lvl2pPr marL="1097280" indent="0" algn="ctr">
              <a:buNone/>
              <a:defRPr sz="4800"/>
            </a:lvl2pPr>
            <a:lvl3pPr marL="2194560" indent="0" algn="ctr">
              <a:buNone/>
              <a:defRPr sz="4320"/>
            </a:lvl3pPr>
            <a:lvl4pPr marL="3291840" indent="0" algn="ctr">
              <a:buNone/>
              <a:defRPr sz="3840"/>
            </a:lvl4pPr>
            <a:lvl5pPr marL="4389120" indent="0" algn="ctr">
              <a:buNone/>
              <a:defRPr sz="3840"/>
            </a:lvl5pPr>
            <a:lvl6pPr marL="5486400" indent="0" algn="ctr">
              <a:buNone/>
              <a:defRPr sz="3840"/>
            </a:lvl6pPr>
            <a:lvl7pPr marL="6583680" indent="0" algn="ctr">
              <a:buNone/>
              <a:defRPr sz="3840"/>
            </a:lvl7pPr>
            <a:lvl8pPr marL="7680960" indent="0" algn="ctr">
              <a:buNone/>
              <a:defRPr sz="3840"/>
            </a:lvl8pPr>
            <a:lvl9pPr marL="8778240" indent="0" algn="ctr">
              <a:buNone/>
              <a:defRPr sz="38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88FD1F-69BA-6842-9591-F750A5AB254E}" type="datetimeFigureOut">
              <a:rPr lang="en-US" smtClean="0"/>
              <a:t>4/7/25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BC438C-FFDA-094B-BF36-9C50CEB5C778}" type="slidenum">
              <a:rPr lang="en-US" smtClean="0"/>
              <a:t>‹#›</a:t>
            </a:fld>
            <a:endParaRPr lang="en-US"/>
          </a:p>
        </p:txBody>
      </p:sp>
    </p:spTree>
    <p:extLst>
      <p:ext uri="{BB962C8B-B14F-4D97-AF65-F5344CB8AC3E}">
        <p14:creationId xmlns:p14="http://schemas.microsoft.com/office/powerpoint/2010/main" val="3376737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88FD1F-69BA-6842-9591-F750A5AB254E}" type="datetimeFigureOut">
              <a:rPr lang="en-US" smtClean="0"/>
              <a:t>4/7/25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BC438C-FFDA-094B-BF36-9C50CEB5C778}" type="slidenum">
              <a:rPr lang="en-US" smtClean="0"/>
              <a:t>‹#›</a:t>
            </a:fld>
            <a:endParaRPr lang="en-US"/>
          </a:p>
        </p:txBody>
      </p:sp>
    </p:spTree>
    <p:extLst>
      <p:ext uri="{BB962C8B-B14F-4D97-AF65-F5344CB8AC3E}">
        <p14:creationId xmlns:p14="http://schemas.microsoft.com/office/powerpoint/2010/main" val="2432312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97331" y="4103375"/>
            <a:ext cx="18928080" cy="6846569"/>
          </a:xfrm>
        </p:spPr>
        <p:txBody>
          <a:bodyPr anchor="b"/>
          <a:lstStyle>
            <a:lvl1pPr>
              <a:defRPr sz="14400"/>
            </a:lvl1pPr>
          </a:lstStyle>
          <a:p>
            <a:r>
              <a:rPr lang="en-US"/>
              <a:t>Click to edit Master title style</a:t>
            </a:r>
            <a:endParaRPr lang="en-US" dirty="0"/>
          </a:p>
        </p:txBody>
      </p:sp>
      <p:sp>
        <p:nvSpPr>
          <p:cNvPr id="3" name="Text Placeholder 2"/>
          <p:cNvSpPr>
            <a:spLocks noGrp="1"/>
          </p:cNvSpPr>
          <p:nvPr>
            <p:ph type="body" idx="1"/>
          </p:nvPr>
        </p:nvSpPr>
        <p:spPr>
          <a:xfrm>
            <a:off x="1497331" y="11014715"/>
            <a:ext cx="18928080" cy="3600449"/>
          </a:xfrm>
        </p:spPr>
        <p:txBody>
          <a:bodyPr/>
          <a:lstStyle>
            <a:lvl1pPr marL="0" indent="0">
              <a:buNone/>
              <a:defRPr sz="5760">
                <a:solidFill>
                  <a:schemeClr val="tx1">
                    <a:tint val="82000"/>
                  </a:schemeClr>
                </a:solidFill>
              </a:defRPr>
            </a:lvl1pPr>
            <a:lvl2pPr marL="1097280" indent="0">
              <a:buNone/>
              <a:defRPr sz="4800">
                <a:solidFill>
                  <a:schemeClr val="tx1">
                    <a:tint val="82000"/>
                  </a:schemeClr>
                </a:solidFill>
              </a:defRPr>
            </a:lvl2pPr>
            <a:lvl3pPr marL="2194560" indent="0">
              <a:buNone/>
              <a:defRPr sz="4320">
                <a:solidFill>
                  <a:schemeClr val="tx1">
                    <a:tint val="82000"/>
                  </a:schemeClr>
                </a:solidFill>
              </a:defRPr>
            </a:lvl3pPr>
            <a:lvl4pPr marL="3291840" indent="0">
              <a:buNone/>
              <a:defRPr sz="3840">
                <a:solidFill>
                  <a:schemeClr val="tx1">
                    <a:tint val="82000"/>
                  </a:schemeClr>
                </a:solidFill>
              </a:defRPr>
            </a:lvl4pPr>
            <a:lvl5pPr marL="4389120" indent="0">
              <a:buNone/>
              <a:defRPr sz="3840">
                <a:solidFill>
                  <a:schemeClr val="tx1">
                    <a:tint val="82000"/>
                  </a:schemeClr>
                </a:solidFill>
              </a:defRPr>
            </a:lvl5pPr>
            <a:lvl6pPr marL="5486400" indent="0">
              <a:buNone/>
              <a:defRPr sz="3840">
                <a:solidFill>
                  <a:schemeClr val="tx1">
                    <a:tint val="82000"/>
                  </a:schemeClr>
                </a:solidFill>
              </a:defRPr>
            </a:lvl6pPr>
            <a:lvl7pPr marL="6583680" indent="0">
              <a:buNone/>
              <a:defRPr sz="3840">
                <a:solidFill>
                  <a:schemeClr val="tx1">
                    <a:tint val="82000"/>
                  </a:schemeClr>
                </a:solidFill>
              </a:defRPr>
            </a:lvl7pPr>
            <a:lvl8pPr marL="7680960" indent="0">
              <a:buNone/>
              <a:defRPr sz="3840">
                <a:solidFill>
                  <a:schemeClr val="tx1">
                    <a:tint val="82000"/>
                  </a:schemeClr>
                </a:solidFill>
              </a:defRPr>
            </a:lvl8pPr>
            <a:lvl9pPr marL="8778240" indent="0">
              <a:buNone/>
              <a:defRPr sz="384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88FD1F-69BA-6842-9591-F750A5AB254E}" type="datetimeFigureOut">
              <a:rPr lang="en-US" smtClean="0"/>
              <a:t>4/7/25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BC438C-FFDA-094B-BF36-9C50CEB5C778}" type="slidenum">
              <a:rPr lang="en-US" smtClean="0"/>
              <a:t>‹#›</a:t>
            </a:fld>
            <a:endParaRPr lang="en-US"/>
          </a:p>
        </p:txBody>
      </p:sp>
    </p:spTree>
    <p:extLst>
      <p:ext uri="{BB962C8B-B14F-4D97-AF65-F5344CB8AC3E}">
        <p14:creationId xmlns:p14="http://schemas.microsoft.com/office/powerpoint/2010/main" val="2361209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08760" y="4381500"/>
            <a:ext cx="9326880" cy="104432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109960" y="4381500"/>
            <a:ext cx="9326880" cy="104432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88FD1F-69BA-6842-9591-F750A5AB254E}" type="datetimeFigureOut">
              <a:rPr lang="en-US" smtClean="0"/>
              <a:t>4/7/25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BC438C-FFDA-094B-BF36-9C50CEB5C778}" type="slidenum">
              <a:rPr lang="en-US" smtClean="0"/>
              <a:t>‹#›</a:t>
            </a:fld>
            <a:endParaRPr lang="en-US"/>
          </a:p>
        </p:txBody>
      </p:sp>
    </p:spTree>
    <p:extLst>
      <p:ext uri="{BB962C8B-B14F-4D97-AF65-F5344CB8AC3E}">
        <p14:creationId xmlns:p14="http://schemas.microsoft.com/office/powerpoint/2010/main" val="2183664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1618" y="876304"/>
            <a:ext cx="18928080" cy="318135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11621" y="4034791"/>
            <a:ext cx="9284016" cy="1977389"/>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4" name="Content Placeholder 3"/>
          <p:cNvSpPr>
            <a:spLocks noGrp="1"/>
          </p:cNvSpPr>
          <p:nvPr>
            <p:ph sz="half" idx="2"/>
          </p:nvPr>
        </p:nvSpPr>
        <p:spPr>
          <a:xfrm>
            <a:off x="1511621" y="6012180"/>
            <a:ext cx="9284016" cy="88430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109961" y="4034791"/>
            <a:ext cx="9329738" cy="1977389"/>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6" name="Content Placeholder 5"/>
          <p:cNvSpPr>
            <a:spLocks noGrp="1"/>
          </p:cNvSpPr>
          <p:nvPr>
            <p:ph sz="quarter" idx="4"/>
          </p:nvPr>
        </p:nvSpPr>
        <p:spPr>
          <a:xfrm>
            <a:off x="11109961" y="6012180"/>
            <a:ext cx="9329738" cy="88430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88FD1F-69BA-6842-9591-F750A5AB254E}" type="datetimeFigureOut">
              <a:rPr lang="en-US" smtClean="0"/>
              <a:t>4/7/25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BC438C-FFDA-094B-BF36-9C50CEB5C778}" type="slidenum">
              <a:rPr lang="en-US" smtClean="0"/>
              <a:t>‹#›</a:t>
            </a:fld>
            <a:endParaRPr lang="en-US"/>
          </a:p>
        </p:txBody>
      </p:sp>
    </p:spTree>
    <p:extLst>
      <p:ext uri="{BB962C8B-B14F-4D97-AF65-F5344CB8AC3E}">
        <p14:creationId xmlns:p14="http://schemas.microsoft.com/office/powerpoint/2010/main" val="2624813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88FD1F-69BA-6842-9591-F750A5AB254E}" type="datetimeFigureOut">
              <a:rPr lang="en-US" smtClean="0"/>
              <a:t>4/7/25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BC438C-FFDA-094B-BF36-9C50CEB5C778}" type="slidenum">
              <a:rPr lang="en-US" smtClean="0"/>
              <a:t>‹#›</a:t>
            </a:fld>
            <a:endParaRPr lang="en-US"/>
          </a:p>
        </p:txBody>
      </p:sp>
    </p:spTree>
    <p:extLst>
      <p:ext uri="{BB962C8B-B14F-4D97-AF65-F5344CB8AC3E}">
        <p14:creationId xmlns:p14="http://schemas.microsoft.com/office/powerpoint/2010/main" val="4246855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88FD1F-69BA-6842-9591-F750A5AB254E}" type="datetimeFigureOut">
              <a:rPr lang="en-US" smtClean="0"/>
              <a:t>4/7/25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BC438C-FFDA-094B-BF36-9C50CEB5C778}" type="slidenum">
              <a:rPr lang="en-US" smtClean="0"/>
              <a:t>‹#›</a:t>
            </a:fld>
            <a:endParaRPr lang="en-US"/>
          </a:p>
        </p:txBody>
      </p:sp>
    </p:spTree>
    <p:extLst>
      <p:ext uri="{BB962C8B-B14F-4D97-AF65-F5344CB8AC3E}">
        <p14:creationId xmlns:p14="http://schemas.microsoft.com/office/powerpoint/2010/main" val="162978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1097280"/>
            <a:ext cx="7078027" cy="3840480"/>
          </a:xfrm>
        </p:spPr>
        <p:txBody>
          <a:bodyPr anchor="b"/>
          <a:lstStyle>
            <a:lvl1pPr>
              <a:defRPr sz="7680"/>
            </a:lvl1pPr>
          </a:lstStyle>
          <a:p>
            <a:r>
              <a:rPr lang="en-US"/>
              <a:t>Click to edit Master title style</a:t>
            </a:r>
            <a:endParaRPr lang="en-US" dirty="0"/>
          </a:p>
        </p:txBody>
      </p:sp>
      <p:sp>
        <p:nvSpPr>
          <p:cNvPr id="3" name="Content Placeholder 2"/>
          <p:cNvSpPr>
            <a:spLocks noGrp="1"/>
          </p:cNvSpPr>
          <p:nvPr>
            <p:ph idx="1"/>
          </p:nvPr>
        </p:nvSpPr>
        <p:spPr>
          <a:xfrm>
            <a:off x="9329738" y="2369824"/>
            <a:ext cx="11109960" cy="11696700"/>
          </a:xfrm>
        </p:spPr>
        <p:txBody>
          <a:bodyPr/>
          <a:lstStyle>
            <a:lvl1pPr>
              <a:defRPr sz="7680"/>
            </a:lvl1pPr>
            <a:lvl2pPr>
              <a:defRPr sz="6720"/>
            </a:lvl2pPr>
            <a:lvl3pPr>
              <a:defRPr sz="5760"/>
            </a:lvl3pPr>
            <a:lvl4pPr>
              <a:defRPr sz="4800"/>
            </a:lvl4pPr>
            <a:lvl5pPr>
              <a:defRPr sz="4800"/>
            </a:lvl5pPr>
            <a:lvl6pPr>
              <a:defRPr sz="4800"/>
            </a:lvl6pPr>
            <a:lvl7pPr>
              <a:defRPr sz="4800"/>
            </a:lvl7pPr>
            <a:lvl8pPr>
              <a:defRPr sz="4800"/>
            </a:lvl8pPr>
            <a:lvl9pPr>
              <a:defRPr sz="4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11619" y="4937760"/>
            <a:ext cx="7078027" cy="9147811"/>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A488FD1F-69BA-6842-9591-F750A5AB254E}" type="datetimeFigureOut">
              <a:rPr lang="en-US" smtClean="0"/>
              <a:t>4/7/25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BC438C-FFDA-094B-BF36-9C50CEB5C778}" type="slidenum">
              <a:rPr lang="en-US" smtClean="0"/>
              <a:t>‹#›</a:t>
            </a:fld>
            <a:endParaRPr lang="en-US"/>
          </a:p>
        </p:txBody>
      </p:sp>
    </p:spTree>
    <p:extLst>
      <p:ext uri="{BB962C8B-B14F-4D97-AF65-F5344CB8AC3E}">
        <p14:creationId xmlns:p14="http://schemas.microsoft.com/office/powerpoint/2010/main" val="3733585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1619" y="1097280"/>
            <a:ext cx="7078027" cy="3840480"/>
          </a:xfrm>
        </p:spPr>
        <p:txBody>
          <a:bodyPr anchor="b"/>
          <a:lstStyle>
            <a:lvl1pPr>
              <a:defRPr sz="7680"/>
            </a:lvl1pPr>
          </a:lstStyle>
          <a:p>
            <a:r>
              <a:rPr lang="en-US"/>
              <a:t>Click to edit Master title style</a:t>
            </a:r>
            <a:endParaRPr lang="en-US" dirty="0"/>
          </a:p>
        </p:txBody>
      </p:sp>
      <p:sp>
        <p:nvSpPr>
          <p:cNvPr id="3" name="Picture Placeholder 2"/>
          <p:cNvSpPr>
            <a:spLocks noGrp="1" noChangeAspect="1"/>
          </p:cNvSpPr>
          <p:nvPr>
            <p:ph type="pic" idx="1"/>
          </p:nvPr>
        </p:nvSpPr>
        <p:spPr>
          <a:xfrm>
            <a:off x="9329738" y="2369824"/>
            <a:ext cx="11109960" cy="11696700"/>
          </a:xfrm>
        </p:spPr>
        <p:txBody>
          <a:bodyPr anchor="t"/>
          <a:lstStyle>
            <a:lvl1pPr marL="0" indent="0">
              <a:buNone/>
              <a:defRPr sz="7680"/>
            </a:lvl1pPr>
            <a:lvl2pPr marL="1097280" indent="0">
              <a:buNone/>
              <a:defRPr sz="6720"/>
            </a:lvl2pPr>
            <a:lvl3pPr marL="2194560" indent="0">
              <a:buNone/>
              <a:defRPr sz="5760"/>
            </a:lvl3pPr>
            <a:lvl4pPr marL="3291840" indent="0">
              <a:buNone/>
              <a:defRPr sz="4800"/>
            </a:lvl4pPr>
            <a:lvl5pPr marL="4389120" indent="0">
              <a:buNone/>
              <a:defRPr sz="4800"/>
            </a:lvl5pPr>
            <a:lvl6pPr marL="5486400" indent="0">
              <a:buNone/>
              <a:defRPr sz="4800"/>
            </a:lvl6pPr>
            <a:lvl7pPr marL="6583680" indent="0">
              <a:buNone/>
              <a:defRPr sz="4800"/>
            </a:lvl7pPr>
            <a:lvl8pPr marL="7680960" indent="0">
              <a:buNone/>
              <a:defRPr sz="4800"/>
            </a:lvl8pPr>
            <a:lvl9pPr marL="8778240" indent="0">
              <a:buNone/>
              <a:defRPr sz="4800"/>
            </a:lvl9pPr>
          </a:lstStyle>
          <a:p>
            <a:r>
              <a:rPr lang="en-US"/>
              <a:t>Click icon to add picture</a:t>
            </a:r>
            <a:endParaRPr lang="en-US" dirty="0"/>
          </a:p>
        </p:txBody>
      </p:sp>
      <p:sp>
        <p:nvSpPr>
          <p:cNvPr id="4" name="Text Placeholder 3"/>
          <p:cNvSpPr>
            <a:spLocks noGrp="1"/>
          </p:cNvSpPr>
          <p:nvPr>
            <p:ph type="body" sz="half" idx="2"/>
          </p:nvPr>
        </p:nvSpPr>
        <p:spPr>
          <a:xfrm>
            <a:off x="1511619" y="4937760"/>
            <a:ext cx="7078027" cy="9147811"/>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5" name="Date Placeholder 4"/>
          <p:cNvSpPr>
            <a:spLocks noGrp="1"/>
          </p:cNvSpPr>
          <p:nvPr>
            <p:ph type="dt" sz="half" idx="10"/>
          </p:nvPr>
        </p:nvSpPr>
        <p:spPr/>
        <p:txBody>
          <a:bodyPr/>
          <a:lstStyle/>
          <a:p>
            <a:fld id="{A488FD1F-69BA-6842-9591-F750A5AB254E}" type="datetimeFigureOut">
              <a:rPr lang="en-US" smtClean="0"/>
              <a:t>4/7/25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BC438C-FFDA-094B-BF36-9C50CEB5C778}" type="slidenum">
              <a:rPr lang="en-US" smtClean="0"/>
              <a:t>‹#›</a:t>
            </a:fld>
            <a:endParaRPr lang="en-US"/>
          </a:p>
        </p:txBody>
      </p:sp>
    </p:spTree>
    <p:extLst>
      <p:ext uri="{BB962C8B-B14F-4D97-AF65-F5344CB8AC3E}">
        <p14:creationId xmlns:p14="http://schemas.microsoft.com/office/powerpoint/2010/main" val="1296329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88FD1F-69BA-6842-9591-F750A5AB254E}" type="datetimeFigureOut">
              <a:rPr lang="en-US" smtClean="0"/>
              <a:t>4/7/25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BC438C-FFDA-094B-BF36-9C50CEB5C778}" type="slidenum">
              <a:rPr lang="en-US" smtClean="0"/>
              <a:t>‹#›</a:t>
            </a:fld>
            <a:endParaRPr lang="en-US"/>
          </a:p>
        </p:txBody>
      </p:sp>
    </p:spTree>
    <p:extLst>
      <p:ext uri="{BB962C8B-B14F-4D97-AF65-F5344CB8AC3E}">
        <p14:creationId xmlns:p14="http://schemas.microsoft.com/office/powerpoint/2010/main" val="2310902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704821" y="876300"/>
            <a:ext cx="4732020" cy="139484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08761" y="876300"/>
            <a:ext cx="13921740" cy="139484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88FD1F-69BA-6842-9591-F750A5AB254E}" type="datetimeFigureOut">
              <a:rPr lang="en-US" smtClean="0"/>
              <a:t>4/7/25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BC438C-FFDA-094B-BF36-9C50CEB5C778}" type="slidenum">
              <a:rPr lang="en-US" smtClean="0"/>
              <a:t>‹#›</a:t>
            </a:fld>
            <a:endParaRPr lang="en-US"/>
          </a:p>
        </p:txBody>
      </p:sp>
    </p:spTree>
    <p:extLst>
      <p:ext uri="{BB962C8B-B14F-4D97-AF65-F5344CB8AC3E}">
        <p14:creationId xmlns:p14="http://schemas.microsoft.com/office/powerpoint/2010/main" val="1454877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08760" y="876304"/>
            <a:ext cx="18928080" cy="318135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08760" y="4381500"/>
            <a:ext cx="18928080" cy="104432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508760" y="15255244"/>
            <a:ext cx="4937760" cy="876300"/>
          </a:xfrm>
          <a:prstGeom prst="rect">
            <a:avLst/>
          </a:prstGeom>
        </p:spPr>
        <p:txBody>
          <a:bodyPr vert="horz" lIns="91440" tIns="45720" rIns="91440" bIns="45720" rtlCol="0" anchor="ctr"/>
          <a:lstStyle>
            <a:lvl1pPr algn="l">
              <a:defRPr sz="2880">
                <a:solidFill>
                  <a:schemeClr val="tx1">
                    <a:tint val="82000"/>
                  </a:schemeClr>
                </a:solidFill>
              </a:defRPr>
            </a:lvl1pPr>
          </a:lstStyle>
          <a:p>
            <a:fld id="{A488FD1F-69BA-6842-9591-F750A5AB254E}" type="datetimeFigureOut">
              <a:rPr lang="en-US" smtClean="0"/>
              <a:t>4/7/25</a:t>
            </a:fld>
            <a:endParaRPr lang="en-US"/>
          </a:p>
        </p:txBody>
      </p:sp>
      <p:sp>
        <p:nvSpPr>
          <p:cNvPr id="5" name="Footer Placeholder 4"/>
          <p:cNvSpPr>
            <a:spLocks noGrp="1"/>
          </p:cNvSpPr>
          <p:nvPr>
            <p:ph type="ftr" sz="quarter" idx="3"/>
          </p:nvPr>
        </p:nvSpPr>
        <p:spPr>
          <a:xfrm>
            <a:off x="7269480" y="15255244"/>
            <a:ext cx="7406640" cy="876300"/>
          </a:xfrm>
          <a:prstGeom prst="rect">
            <a:avLst/>
          </a:prstGeom>
        </p:spPr>
        <p:txBody>
          <a:bodyPr vert="horz" lIns="91440" tIns="45720" rIns="91440" bIns="45720" rtlCol="0" anchor="ctr"/>
          <a:lstStyle>
            <a:lvl1pPr algn="ctr">
              <a:defRPr sz="288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15499080" y="15255244"/>
            <a:ext cx="4937760" cy="876300"/>
          </a:xfrm>
          <a:prstGeom prst="rect">
            <a:avLst/>
          </a:prstGeom>
        </p:spPr>
        <p:txBody>
          <a:bodyPr vert="horz" lIns="91440" tIns="45720" rIns="91440" bIns="45720" rtlCol="0" anchor="ctr"/>
          <a:lstStyle>
            <a:lvl1pPr algn="r">
              <a:defRPr sz="2880">
                <a:solidFill>
                  <a:schemeClr val="tx1">
                    <a:tint val="82000"/>
                  </a:schemeClr>
                </a:solidFill>
              </a:defRPr>
            </a:lvl1pPr>
          </a:lstStyle>
          <a:p>
            <a:fld id="{54BC438C-FFDA-094B-BF36-9C50CEB5C778}" type="slidenum">
              <a:rPr lang="en-US" smtClean="0"/>
              <a:t>‹#›</a:t>
            </a:fld>
            <a:endParaRPr lang="en-US"/>
          </a:p>
        </p:txBody>
      </p:sp>
    </p:spTree>
    <p:extLst>
      <p:ext uri="{BB962C8B-B14F-4D97-AF65-F5344CB8AC3E}">
        <p14:creationId xmlns:p14="http://schemas.microsoft.com/office/powerpoint/2010/main" val="11392518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94560" rtl="0" eaLnBrk="1" latinLnBrk="0" hangingPunct="1">
        <a:lnSpc>
          <a:spcPct val="90000"/>
        </a:lnSpc>
        <a:spcBef>
          <a:spcPct val="0"/>
        </a:spcBef>
        <a:buNone/>
        <a:defRPr sz="10560" kern="1200">
          <a:solidFill>
            <a:schemeClr val="tx1"/>
          </a:solidFill>
          <a:latin typeface="+mj-lt"/>
          <a:ea typeface="+mj-ea"/>
          <a:cs typeface="+mj-cs"/>
        </a:defRPr>
      </a:lvl1pPr>
    </p:titleStyle>
    <p:bodyStyle>
      <a:lvl1pPr marL="548640" indent="-548640" algn="l" defTabSz="2194560" rtl="0" eaLnBrk="1" latinLnBrk="0" hangingPunct="1">
        <a:lnSpc>
          <a:spcPct val="90000"/>
        </a:lnSpc>
        <a:spcBef>
          <a:spcPts val="2400"/>
        </a:spcBef>
        <a:buFont typeface="Arial" panose="020B0604020202020204" pitchFamily="34" charset="0"/>
        <a:buChar char="•"/>
        <a:defRPr sz="672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Font typeface="Arial" panose="020B0604020202020204" pitchFamily="34" charset="0"/>
        <a:buChar char="•"/>
        <a:defRPr sz="576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Font typeface="Arial" panose="020B0604020202020204" pitchFamily="34" charset="0"/>
        <a:buChar char="•"/>
        <a:defRPr sz="4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p:bodyStyle>
    <p:otherStyle>
      <a:defPPr>
        <a:defRPr lang="en-US"/>
      </a:defPPr>
      <a:lvl1pPr marL="0" algn="l" defTabSz="2194560" rtl="0" eaLnBrk="1" latinLnBrk="0" hangingPunct="1">
        <a:defRPr sz="4320" kern="1200">
          <a:solidFill>
            <a:schemeClr val="tx1"/>
          </a:solidFill>
          <a:latin typeface="+mn-lt"/>
          <a:ea typeface="+mn-ea"/>
          <a:cs typeface="+mn-cs"/>
        </a:defRPr>
      </a:lvl1pPr>
      <a:lvl2pPr marL="1097280" algn="l" defTabSz="2194560" rtl="0" eaLnBrk="1" latinLnBrk="0" hangingPunct="1">
        <a:defRPr sz="4320" kern="1200">
          <a:solidFill>
            <a:schemeClr val="tx1"/>
          </a:solidFill>
          <a:latin typeface="+mn-lt"/>
          <a:ea typeface="+mn-ea"/>
          <a:cs typeface="+mn-cs"/>
        </a:defRPr>
      </a:lvl2pPr>
      <a:lvl3pPr marL="2194560" algn="l" defTabSz="2194560" rtl="0" eaLnBrk="1" latinLnBrk="0" hangingPunct="1">
        <a:defRPr sz="4320" kern="1200">
          <a:solidFill>
            <a:schemeClr val="tx1"/>
          </a:solidFill>
          <a:latin typeface="+mn-lt"/>
          <a:ea typeface="+mn-ea"/>
          <a:cs typeface="+mn-cs"/>
        </a:defRPr>
      </a:lvl3pPr>
      <a:lvl4pPr marL="3291840" algn="l" defTabSz="2194560" rtl="0" eaLnBrk="1" latinLnBrk="0" hangingPunct="1">
        <a:defRPr sz="4320" kern="1200">
          <a:solidFill>
            <a:schemeClr val="tx1"/>
          </a:solidFill>
          <a:latin typeface="+mn-lt"/>
          <a:ea typeface="+mn-ea"/>
          <a:cs typeface="+mn-cs"/>
        </a:defRPr>
      </a:lvl4pPr>
      <a:lvl5pPr marL="4389120" algn="l" defTabSz="2194560" rtl="0" eaLnBrk="1" latinLnBrk="0" hangingPunct="1">
        <a:defRPr sz="4320" kern="1200">
          <a:solidFill>
            <a:schemeClr val="tx1"/>
          </a:solidFill>
          <a:latin typeface="+mn-lt"/>
          <a:ea typeface="+mn-ea"/>
          <a:cs typeface="+mn-cs"/>
        </a:defRPr>
      </a:lvl5pPr>
      <a:lvl6pPr marL="5486400" algn="l" defTabSz="2194560" rtl="0" eaLnBrk="1" latinLnBrk="0" hangingPunct="1">
        <a:defRPr sz="4320" kern="1200">
          <a:solidFill>
            <a:schemeClr val="tx1"/>
          </a:solidFill>
          <a:latin typeface="+mn-lt"/>
          <a:ea typeface="+mn-ea"/>
          <a:cs typeface="+mn-cs"/>
        </a:defRPr>
      </a:lvl6pPr>
      <a:lvl7pPr marL="6583680" algn="l" defTabSz="2194560" rtl="0" eaLnBrk="1" latinLnBrk="0" hangingPunct="1">
        <a:defRPr sz="4320" kern="1200">
          <a:solidFill>
            <a:schemeClr val="tx1"/>
          </a:solidFill>
          <a:latin typeface="+mn-lt"/>
          <a:ea typeface="+mn-ea"/>
          <a:cs typeface="+mn-cs"/>
        </a:defRPr>
      </a:lvl7pPr>
      <a:lvl8pPr marL="7680960" algn="l" defTabSz="2194560" rtl="0" eaLnBrk="1" latinLnBrk="0" hangingPunct="1">
        <a:defRPr sz="4320" kern="1200">
          <a:solidFill>
            <a:schemeClr val="tx1"/>
          </a:solidFill>
          <a:latin typeface="+mn-lt"/>
          <a:ea typeface="+mn-ea"/>
          <a:cs typeface="+mn-cs"/>
        </a:defRPr>
      </a:lvl8pPr>
      <a:lvl9pPr marL="8778240" algn="l" defTabSz="2194560" rtl="0" eaLnBrk="1" latinLnBrk="0" hangingPunct="1">
        <a:defRPr sz="43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9CC4CB-4AF4-5E17-F78A-9CCA42C3E59B}"/>
              </a:ext>
            </a:extLst>
          </p:cNvPr>
          <p:cNvSpPr txBox="1"/>
          <p:nvPr/>
        </p:nvSpPr>
        <p:spPr>
          <a:xfrm>
            <a:off x="6220023" y="381000"/>
            <a:ext cx="9505552" cy="1754326"/>
          </a:xfrm>
          <a:prstGeom prst="rect">
            <a:avLst/>
          </a:prstGeom>
          <a:noFill/>
        </p:spPr>
        <p:txBody>
          <a:bodyPr wrap="none" rtlCol="0">
            <a:spAutoFit/>
          </a:bodyPr>
          <a:lstStyle/>
          <a:p>
            <a:pPr algn="ctr"/>
            <a:r>
              <a:rPr lang="en-US" sz="4800" dirty="0">
                <a:latin typeface="Quattrocento Sans" panose="020B0502050000020003" pitchFamily="34" charset="0"/>
                <a:ea typeface="CMU Serif Roman" panose="02000603000000000000" pitchFamily="2" charset="0"/>
                <a:cs typeface="CMU Serif Roman" panose="02000603000000000000" pitchFamily="2" charset="0"/>
              </a:rPr>
              <a:t>Anti-Trans Laws and Mental Health</a:t>
            </a:r>
          </a:p>
          <a:p>
            <a:pPr algn="ctr"/>
            <a:r>
              <a:rPr lang="en-US" sz="3000" b="1" dirty="0">
                <a:latin typeface="Quattrocento Sans" panose="020B0502050000020003" pitchFamily="34" charset="0"/>
                <a:ea typeface="CMU Serif Roman" panose="02000603000000000000" pitchFamily="2" charset="0"/>
                <a:cs typeface="CMU Serif Roman" panose="02000603000000000000" pitchFamily="2" charset="0"/>
              </a:rPr>
              <a:t>AP Pittman</a:t>
            </a:r>
            <a:r>
              <a:rPr lang="en-US" sz="3000" dirty="0">
                <a:latin typeface="Quattrocento Sans" panose="020B0502050000020003" pitchFamily="34" charset="0"/>
                <a:ea typeface="CMU Serif Roman" panose="02000603000000000000" pitchFamily="2" charset="0"/>
                <a:cs typeface="CMU Serif Roman" panose="02000603000000000000" pitchFamily="2" charset="0"/>
              </a:rPr>
              <a:t>, PhD Candidate</a:t>
            </a:r>
          </a:p>
          <a:p>
            <a:pPr algn="ctr"/>
            <a:r>
              <a:rPr lang="en-US" sz="3000" dirty="0">
                <a:latin typeface="Quattrocento Sans" panose="020B0502050000020003" pitchFamily="34" charset="0"/>
                <a:ea typeface="CMU Serif Roman" panose="02000603000000000000" pitchFamily="2" charset="0"/>
                <a:cs typeface="CMU Serif Roman" panose="02000603000000000000" pitchFamily="2" charset="0"/>
              </a:rPr>
              <a:t>Department of</a:t>
            </a:r>
            <a:r>
              <a:rPr lang="en-US" sz="3000" dirty="0">
                <a:latin typeface="Quattrocento Sans" panose="020B0502050000020003" pitchFamily="34" charset="0"/>
                <a:ea typeface="CMU Serif Roman" panose="02000603000000000000" pitchFamily="2" charset="0"/>
                <a:cs typeface="CMU Serif Roman" panose="02000603000000000000" pitchFamily="2" charset="0"/>
              </a:rPr>
              <a:t> Sociology, Duke University</a:t>
            </a:r>
          </a:p>
        </p:txBody>
      </p:sp>
      <p:pic>
        <p:nvPicPr>
          <p:cNvPr id="6" name="Picture 5">
            <a:extLst>
              <a:ext uri="{FF2B5EF4-FFF2-40B4-BE49-F238E27FC236}">
                <a16:creationId xmlns:a16="http://schemas.microsoft.com/office/drawing/2014/main" id="{5CA767AC-3820-9739-C75F-273483C4C669}"/>
              </a:ext>
            </a:extLst>
          </p:cNvPr>
          <p:cNvPicPr>
            <a:picLocks noChangeAspect="1"/>
          </p:cNvPicPr>
          <p:nvPr/>
        </p:nvPicPr>
        <p:blipFill>
          <a:blip r:embed="rId3"/>
          <a:srcRect t="1" r="7189" b="-12658"/>
          <a:stretch/>
        </p:blipFill>
        <p:spPr>
          <a:xfrm>
            <a:off x="14732000" y="14815118"/>
            <a:ext cx="7213600" cy="1644082"/>
          </a:xfrm>
          <a:prstGeom prst="rect">
            <a:avLst/>
          </a:prstGeom>
        </p:spPr>
      </p:pic>
      <p:sp>
        <p:nvSpPr>
          <p:cNvPr id="7" name="TextBox 6">
            <a:extLst>
              <a:ext uri="{FF2B5EF4-FFF2-40B4-BE49-F238E27FC236}">
                <a16:creationId xmlns:a16="http://schemas.microsoft.com/office/drawing/2014/main" id="{AF2C895B-A7B4-FE34-1248-F44F00F45D73}"/>
              </a:ext>
            </a:extLst>
          </p:cNvPr>
          <p:cNvSpPr txBox="1"/>
          <p:nvPr/>
        </p:nvSpPr>
        <p:spPr>
          <a:xfrm>
            <a:off x="2235200" y="3276600"/>
            <a:ext cx="2539478" cy="646331"/>
          </a:xfrm>
          <a:prstGeom prst="rect">
            <a:avLst/>
          </a:prstGeom>
          <a:solidFill>
            <a:srgbClr val="002B75"/>
          </a:solidFill>
        </p:spPr>
        <p:txBody>
          <a:bodyPr wrap="none" rtlCol="0">
            <a:spAutoFit/>
          </a:bodyPr>
          <a:lstStyle/>
          <a:p>
            <a:r>
              <a:rPr lang="en-US" sz="3600" dirty="0">
                <a:solidFill>
                  <a:schemeClr val="bg1"/>
                </a:solidFill>
                <a:latin typeface="Quattrocento Sans" panose="020B0502050000020003" pitchFamily="34" charset="0"/>
              </a:rPr>
              <a:t> Motivation </a:t>
            </a:r>
          </a:p>
        </p:txBody>
      </p:sp>
      <p:sp>
        <p:nvSpPr>
          <p:cNvPr id="8" name="TextBox 7">
            <a:extLst>
              <a:ext uri="{FF2B5EF4-FFF2-40B4-BE49-F238E27FC236}">
                <a16:creationId xmlns:a16="http://schemas.microsoft.com/office/drawing/2014/main" id="{A98208AD-4FCB-54B3-A414-FF8664549C50}"/>
              </a:ext>
            </a:extLst>
          </p:cNvPr>
          <p:cNvSpPr txBox="1"/>
          <p:nvPr/>
        </p:nvSpPr>
        <p:spPr>
          <a:xfrm>
            <a:off x="4990728" y="12021447"/>
            <a:ext cx="1468582" cy="646331"/>
          </a:xfrm>
          <a:prstGeom prst="rect">
            <a:avLst/>
          </a:prstGeom>
          <a:solidFill>
            <a:srgbClr val="002B75"/>
          </a:solidFill>
        </p:spPr>
        <p:txBody>
          <a:bodyPr wrap="square" rtlCol="0">
            <a:spAutoFit/>
          </a:bodyPr>
          <a:lstStyle/>
          <a:p>
            <a:r>
              <a:rPr lang="en-US" sz="3600" dirty="0">
                <a:solidFill>
                  <a:schemeClr val="bg1"/>
                </a:solidFill>
                <a:latin typeface="Quattrocento Sans" panose="020B0502050000020003" pitchFamily="34" charset="0"/>
                <a:ea typeface="CMU Serif Roman" panose="02000603000000000000" pitchFamily="2" charset="0"/>
                <a:cs typeface="CMU Serif Roman" panose="02000603000000000000" pitchFamily="2" charset="0"/>
              </a:rPr>
              <a:t> Data</a:t>
            </a:r>
          </a:p>
        </p:txBody>
      </p:sp>
      <p:sp>
        <p:nvSpPr>
          <p:cNvPr id="9" name="TextBox 8">
            <a:extLst>
              <a:ext uri="{FF2B5EF4-FFF2-40B4-BE49-F238E27FC236}">
                <a16:creationId xmlns:a16="http://schemas.microsoft.com/office/drawing/2014/main" id="{022B8B71-FE17-5B34-5DCB-09316047AEFE}"/>
              </a:ext>
            </a:extLst>
          </p:cNvPr>
          <p:cNvSpPr txBox="1"/>
          <p:nvPr/>
        </p:nvSpPr>
        <p:spPr>
          <a:xfrm>
            <a:off x="9218220" y="3271631"/>
            <a:ext cx="1962397" cy="646331"/>
          </a:xfrm>
          <a:prstGeom prst="rect">
            <a:avLst/>
          </a:prstGeom>
          <a:solidFill>
            <a:srgbClr val="002B75"/>
          </a:solidFill>
        </p:spPr>
        <p:txBody>
          <a:bodyPr wrap="none" rtlCol="0">
            <a:spAutoFit/>
          </a:bodyPr>
          <a:lstStyle/>
          <a:p>
            <a:r>
              <a:rPr lang="en-US" sz="3600" dirty="0">
                <a:solidFill>
                  <a:schemeClr val="bg1"/>
                </a:solidFill>
                <a:latin typeface="Quattrocento Sans" panose="020B0502050000020003" pitchFamily="34" charset="0"/>
                <a:ea typeface="CMU Serif Roman" panose="02000603000000000000" pitchFamily="2" charset="0"/>
                <a:cs typeface="CMU Serif Roman" panose="02000603000000000000" pitchFamily="2" charset="0"/>
              </a:rPr>
              <a:t> Method </a:t>
            </a:r>
          </a:p>
        </p:txBody>
      </p:sp>
      <p:sp>
        <p:nvSpPr>
          <p:cNvPr id="10" name="TextBox 9">
            <a:extLst>
              <a:ext uri="{FF2B5EF4-FFF2-40B4-BE49-F238E27FC236}">
                <a16:creationId xmlns:a16="http://schemas.microsoft.com/office/drawing/2014/main" id="{C5E1F11C-C6CE-84A1-3232-6CB1C5A7B645}"/>
              </a:ext>
            </a:extLst>
          </p:cNvPr>
          <p:cNvSpPr txBox="1"/>
          <p:nvPr/>
        </p:nvSpPr>
        <p:spPr>
          <a:xfrm>
            <a:off x="17029984" y="3271630"/>
            <a:ext cx="1962397" cy="646331"/>
          </a:xfrm>
          <a:prstGeom prst="rect">
            <a:avLst/>
          </a:prstGeom>
          <a:solidFill>
            <a:srgbClr val="002B75"/>
          </a:solidFill>
        </p:spPr>
        <p:txBody>
          <a:bodyPr wrap="square" rtlCol="0">
            <a:spAutoFit/>
          </a:bodyPr>
          <a:lstStyle/>
          <a:p>
            <a:r>
              <a:rPr lang="en-US" sz="3600" dirty="0">
                <a:solidFill>
                  <a:schemeClr val="bg1"/>
                </a:solidFill>
                <a:latin typeface="Quattrocento Sans" panose="020B0502050000020003" pitchFamily="34" charset="0"/>
                <a:ea typeface="CMU Serif Roman" panose="02000603000000000000" pitchFamily="2" charset="0"/>
                <a:cs typeface="CMU Serif Roman" panose="02000603000000000000" pitchFamily="2" charset="0"/>
              </a:rPr>
              <a:t>  Results   </a:t>
            </a:r>
          </a:p>
        </p:txBody>
      </p:sp>
      <p:pic>
        <p:nvPicPr>
          <p:cNvPr id="14" name="Graphic 13">
            <a:extLst>
              <a:ext uri="{FF2B5EF4-FFF2-40B4-BE49-F238E27FC236}">
                <a16:creationId xmlns:a16="http://schemas.microsoft.com/office/drawing/2014/main" id="{BF299652-013C-5BE7-7A09-DFBC4F28370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62738" y="12967959"/>
            <a:ext cx="1879600" cy="803485"/>
          </a:xfrm>
          <a:prstGeom prst="rect">
            <a:avLst/>
          </a:prstGeom>
        </p:spPr>
      </p:pic>
      <p:pic>
        <p:nvPicPr>
          <p:cNvPr id="16" name="Graphic 15">
            <a:extLst>
              <a:ext uri="{FF2B5EF4-FFF2-40B4-BE49-F238E27FC236}">
                <a16:creationId xmlns:a16="http://schemas.microsoft.com/office/drawing/2014/main" id="{7D43E07A-EF39-10E1-CDE5-45A5DC4A978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37643" y="15015820"/>
            <a:ext cx="2972326" cy="879139"/>
          </a:xfrm>
          <a:prstGeom prst="rect">
            <a:avLst/>
          </a:prstGeom>
        </p:spPr>
      </p:pic>
      <p:sp>
        <p:nvSpPr>
          <p:cNvPr id="17" name="TextBox 16">
            <a:extLst>
              <a:ext uri="{FF2B5EF4-FFF2-40B4-BE49-F238E27FC236}">
                <a16:creationId xmlns:a16="http://schemas.microsoft.com/office/drawing/2014/main" id="{15522FA7-F680-8B90-97D9-E107D3F6D1D4}"/>
              </a:ext>
            </a:extLst>
          </p:cNvPr>
          <p:cNvSpPr txBox="1"/>
          <p:nvPr/>
        </p:nvSpPr>
        <p:spPr>
          <a:xfrm>
            <a:off x="5440183" y="13979653"/>
            <a:ext cx="7206735" cy="2031325"/>
          </a:xfrm>
          <a:prstGeom prst="rect">
            <a:avLst/>
          </a:prstGeom>
          <a:noFill/>
        </p:spPr>
        <p:txBody>
          <a:bodyPr wrap="square" rtlCol="0">
            <a:spAutoFit/>
          </a:bodyPr>
          <a:lstStyle/>
          <a:p>
            <a:r>
              <a:rPr lang="en-US" dirty="0"/>
              <a:t>Outcome Data: </a:t>
            </a:r>
            <a:r>
              <a:rPr lang="en-US" b="1" dirty="0"/>
              <a:t>Census Bureau’s Household Pulse Survey</a:t>
            </a:r>
          </a:p>
          <a:p>
            <a:pPr marL="285750" indent="-285750">
              <a:buFontTx/>
              <a:buChar char="-"/>
            </a:pPr>
            <a:r>
              <a:rPr lang="en-US" b="1" dirty="0"/>
              <a:t>30 waves</a:t>
            </a:r>
            <a:r>
              <a:rPr lang="en-US" dirty="0"/>
              <a:t> between July 2021 and October 2023 (approx. monthly)</a:t>
            </a:r>
          </a:p>
          <a:p>
            <a:pPr marL="285750" indent="-285750">
              <a:buFontTx/>
              <a:buChar char="-"/>
            </a:pPr>
            <a:r>
              <a:rPr lang="en-US" dirty="0"/>
              <a:t>About </a:t>
            </a:r>
            <a:r>
              <a:rPr lang="en-US" b="1" dirty="0"/>
              <a:t>158,000 </a:t>
            </a:r>
            <a:r>
              <a:rPr lang="en-US" dirty="0"/>
              <a:t>observations of queer &amp; trans/GNC residents (repeated cross-sectional)</a:t>
            </a:r>
          </a:p>
          <a:p>
            <a:pPr marL="285750" indent="-285750">
              <a:buFontTx/>
              <a:buChar char="-"/>
            </a:pPr>
            <a:r>
              <a:rPr lang="en-US" b="1" dirty="0"/>
              <a:t>PHQ-4</a:t>
            </a:r>
            <a:r>
              <a:rPr lang="en-US" dirty="0"/>
              <a:t> indicators (feeling anxious, feeling worried, losing interest in previously enjoyed activities, feeling down)</a:t>
            </a:r>
          </a:p>
          <a:p>
            <a:pPr marL="285750" indent="-285750">
              <a:buFontTx/>
              <a:buChar char="-"/>
            </a:pPr>
            <a:r>
              <a:rPr lang="en-US" dirty="0"/>
              <a:t>Gender &amp; sexuality data, as well as state of residence</a:t>
            </a:r>
          </a:p>
        </p:txBody>
      </p:sp>
      <p:sp>
        <p:nvSpPr>
          <p:cNvPr id="18" name="TextBox 17">
            <a:extLst>
              <a:ext uri="{FF2B5EF4-FFF2-40B4-BE49-F238E27FC236}">
                <a16:creationId xmlns:a16="http://schemas.microsoft.com/office/drawing/2014/main" id="{69A365A2-F0EC-D765-78D7-1B9A9CF8B58C}"/>
              </a:ext>
            </a:extLst>
          </p:cNvPr>
          <p:cNvSpPr txBox="1"/>
          <p:nvPr/>
        </p:nvSpPr>
        <p:spPr>
          <a:xfrm>
            <a:off x="122594" y="13156858"/>
            <a:ext cx="5602425" cy="1477328"/>
          </a:xfrm>
          <a:prstGeom prst="rect">
            <a:avLst/>
          </a:prstGeom>
          <a:noFill/>
        </p:spPr>
        <p:txBody>
          <a:bodyPr wrap="square" rtlCol="0">
            <a:spAutoFit/>
          </a:bodyPr>
          <a:lstStyle/>
          <a:p>
            <a:r>
              <a:rPr lang="en-US" dirty="0"/>
              <a:t>Predictor Data: </a:t>
            </a:r>
            <a:r>
              <a:rPr lang="en-US" b="1" dirty="0"/>
              <a:t>Movement Advancement Project</a:t>
            </a:r>
          </a:p>
          <a:p>
            <a:pPr marL="285750" indent="-285750">
              <a:buFontTx/>
              <a:buChar char="-"/>
            </a:pPr>
            <a:r>
              <a:rPr lang="en-US" dirty="0"/>
              <a:t>Compiled </a:t>
            </a:r>
            <a:r>
              <a:rPr lang="en-US" b="1" dirty="0"/>
              <a:t>a list of anti-trans laws passed and when </a:t>
            </a:r>
            <a:r>
              <a:rPr lang="en-US" dirty="0"/>
              <a:t>they were passed</a:t>
            </a:r>
            <a:endParaRPr lang="en-US" b="1" dirty="0"/>
          </a:p>
          <a:p>
            <a:pPr marL="285750" indent="-285750">
              <a:buFontTx/>
              <a:buChar char="-"/>
            </a:pPr>
            <a:r>
              <a:rPr lang="en-US" b="1" dirty="0"/>
              <a:t>Three domains</a:t>
            </a:r>
            <a:r>
              <a:rPr lang="en-US" dirty="0"/>
              <a:t>: bathroom/facility restrictions,  medical restrictions, and sports bans</a:t>
            </a:r>
          </a:p>
        </p:txBody>
      </p:sp>
      <p:sp>
        <p:nvSpPr>
          <p:cNvPr id="19" name="TextBox 18">
            <a:extLst>
              <a:ext uri="{FF2B5EF4-FFF2-40B4-BE49-F238E27FC236}">
                <a16:creationId xmlns:a16="http://schemas.microsoft.com/office/drawing/2014/main" id="{CD9DA189-C176-1180-3A99-00106FC08F10}"/>
              </a:ext>
            </a:extLst>
          </p:cNvPr>
          <p:cNvSpPr txBox="1"/>
          <p:nvPr/>
        </p:nvSpPr>
        <p:spPr>
          <a:xfrm>
            <a:off x="7645707" y="4659036"/>
            <a:ext cx="5083704" cy="1754326"/>
          </a:xfrm>
          <a:prstGeom prst="rect">
            <a:avLst/>
          </a:prstGeom>
          <a:noFill/>
        </p:spPr>
        <p:txBody>
          <a:bodyPr wrap="square" rtlCol="0">
            <a:spAutoFit/>
          </a:bodyPr>
          <a:lstStyle/>
          <a:p>
            <a:pPr marL="285750" indent="-285750">
              <a:buFontTx/>
              <a:buChar char="-"/>
            </a:pPr>
            <a:r>
              <a:rPr lang="en-US" dirty="0"/>
              <a:t>Staggered difference-in-differences, following best practices for multiple treatment groups</a:t>
            </a:r>
          </a:p>
          <a:p>
            <a:pPr marL="285750" indent="-285750">
              <a:buFontTx/>
              <a:buChar char="-"/>
            </a:pPr>
            <a:r>
              <a:rPr lang="en-US" dirty="0"/>
              <a:t>Weighted via Census-provided person-weights</a:t>
            </a:r>
          </a:p>
          <a:p>
            <a:pPr marL="285750" indent="-285750">
              <a:buFontTx/>
              <a:buChar char="-"/>
            </a:pPr>
            <a:r>
              <a:rPr lang="en-US" dirty="0"/>
              <a:t>Dynamic treatment effect aggregation</a:t>
            </a:r>
          </a:p>
          <a:p>
            <a:pPr marL="285750" indent="-285750">
              <a:buFontTx/>
              <a:buChar char="-"/>
            </a:pPr>
            <a:endParaRPr lang="en-US" dirty="0"/>
          </a:p>
          <a:p>
            <a:pPr marL="285750" indent="-285750">
              <a:buFontTx/>
              <a:buChar char="-"/>
            </a:pPr>
            <a:endParaRPr lang="en-US" dirty="0"/>
          </a:p>
        </p:txBody>
      </p:sp>
      <p:sp>
        <p:nvSpPr>
          <p:cNvPr id="20" name="TextBox 19">
            <a:extLst>
              <a:ext uri="{FF2B5EF4-FFF2-40B4-BE49-F238E27FC236}">
                <a16:creationId xmlns:a16="http://schemas.microsoft.com/office/drawing/2014/main" id="{FFD5B2C6-CE2F-C6B0-6171-B4CB28DA26AA}"/>
              </a:ext>
            </a:extLst>
          </p:cNvPr>
          <p:cNvSpPr txBox="1"/>
          <p:nvPr/>
        </p:nvSpPr>
        <p:spPr>
          <a:xfrm>
            <a:off x="417733" y="381000"/>
            <a:ext cx="1979196" cy="369332"/>
          </a:xfrm>
          <a:prstGeom prst="rect">
            <a:avLst/>
          </a:prstGeom>
          <a:noFill/>
        </p:spPr>
        <p:txBody>
          <a:bodyPr wrap="none" rtlCol="0">
            <a:spAutoFit/>
          </a:bodyPr>
          <a:lstStyle/>
          <a:p>
            <a:r>
              <a:rPr lang="en-US" dirty="0" err="1"/>
              <a:t>Github</a:t>
            </a:r>
            <a:r>
              <a:rPr lang="en-US" dirty="0"/>
              <a:t> repository:</a:t>
            </a:r>
          </a:p>
        </p:txBody>
      </p:sp>
      <p:sp>
        <p:nvSpPr>
          <p:cNvPr id="23" name="TextBox 22">
            <a:extLst>
              <a:ext uri="{FF2B5EF4-FFF2-40B4-BE49-F238E27FC236}">
                <a16:creationId xmlns:a16="http://schemas.microsoft.com/office/drawing/2014/main" id="{808C1B4B-9DEC-DDCB-736E-9B50F4F9D4D5}"/>
              </a:ext>
            </a:extLst>
          </p:cNvPr>
          <p:cNvSpPr txBox="1"/>
          <p:nvPr/>
        </p:nvSpPr>
        <p:spPr>
          <a:xfrm>
            <a:off x="14697598" y="9445303"/>
            <a:ext cx="6553200" cy="1938992"/>
          </a:xfrm>
          <a:prstGeom prst="rect">
            <a:avLst/>
          </a:prstGeom>
          <a:noFill/>
          <a:ln w="19050">
            <a:solidFill>
              <a:schemeClr val="accent1">
                <a:shade val="15000"/>
              </a:schemeClr>
            </a:solidFill>
          </a:ln>
        </p:spPr>
        <p:txBody>
          <a:bodyPr wrap="square" rtlCol="0">
            <a:spAutoFit/>
          </a:bodyPr>
          <a:lstStyle/>
          <a:p>
            <a:pPr algn="ctr"/>
            <a:r>
              <a:rPr lang="en-US" sz="2400" dirty="0"/>
              <a:t>The </a:t>
            </a:r>
            <a:r>
              <a:rPr lang="en-US" sz="2400" b="1" dirty="0"/>
              <a:t>first anti-trans law </a:t>
            </a:r>
            <a:r>
              <a:rPr lang="en-US" sz="2400" dirty="0"/>
              <a:t>passed in a state </a:t>
            </a:r>
            <a:r>
              <a:rPr lang="en-US" sz="2400" b="1" dirty="0"/>
              <a:t>increases the PHQ-4 score </a:t>
            </a:r>
            <a:r>
              <a:rPr lang="en-US" sz="2400" dirty="0"/>
              <a:t>of transgender / gender non-conforming people in that state </a:t>
            </a:r>
            <a:r>
              <a:rPr lang="en-US" sz="2400" b="1" dirty="0"/>
              <a:t>by 1.42 points </a:t>
            </a:r>
            <a:r>
              <a:rPr lang="en-US" sz="2400" dirty="0"/>
              <a:t>relative to their cisgender queer counterparts.</a:t>
            </a:r>
          </a:p>
        </p:txBody>
      </p:sp>
      <p:sp>
        <p:nvSpPr>
          <p:cNvPr id="25" name="TextBox 24">
            <a:extLst>
              <a:ext uri="{FF2B5EF4-FFF2-40B4-BE49-F238E27FC236}">
                <a16:creationId xmlns:a16="http://schemas.microsoft.com/office/drawing/2014/main" id="{913C127E-DFA2-5412-0C82-A724DC6B0509}"/>
              </a:ext>
            </a:extLst>
          </p:cNvPr>
          <p:cNvSpPr txBox="1"/>
          <p:nvPr/>
        </p:nvSpPr>
        <p:spPr>
          <a:xfrm>
            <a:off x="871163" y="8521973"/>
            <a:ext cx="5359791" cy="2862322"/>
          </a:xfrm>
          <a:prstGeom prst="rect">
            <a:avLst/>
          </a:prstGeom>
          <a:noFill/>
        </p:spPr>
        <p:txBody>
          <a:bodyPr wrap="square" rtlCol="0">
            <a:spAutoFit/>
          </a:bodyPr>
          <a:lstStyle/>
          <a:p>
            <a:pPr marL="285750" indent="-285750">
              <a:buFontTx/>
              <a:buChar char="-"/>
            </a:pPr>
            <a:r>
              <a:rPr lang="en-US" dirty="0"/>
              <a:t>How do trans/GNC people fit into theories of structural oppression?</a:t>
            </a:r>
          </a:p>
          <a:p>
            <a:pPr marL="285750" indent="-285750">
              <a:buFontTx/>
              <a:buChar char="-"/>
            </a:pPr>
            <a:r>
              <a:rPr lang="en-US" dirty="0"/>
              <a:t>Are they included in structural patriarchy, structural sexism, or structural heterosexism? Do they experience similar enough realities to the rest of the queer community to be lumped together with them, or should they be considered separately?</a:t>
            </a:r>
          </a:p>
          <a:p>
            <a:pPr marL="285750" indent="-285750">
              <a:buFontTx/>
              <a:buChar char="-"/>
            </a:pPr>
            <a:r>
              <a:rPr lang="en-US" dirty="0"/>
              <a:t>How can we understand the recent flood of anti-trans laws, and quantify their impact?</a:t>
            </a:r>
          </a:p>
        </p:txBody>
      </p:sp>
      <p:pic>
        <p:nvPicPr>
          <p:cNvPr id="26" name="Picture 25">
            <a:extLst>
              <a:ext uri="{FF2B5EF4-FFF2-40B4-BE49-F238E27FC236}">
                <a16:creationId xmlns:a16="http://schemas.microsoft.com/office/drawing/2014/main" id="{43EF6D5D-16DF-8C24-398E-7669B109E8C9}"/>
              </a:ext>
            </a:extLst>
          </p:cNvPr>
          <p:cNvPicPr>
            <a:picLocks noChangeAspect="1"/>
          </p:cNvPicPr>
          <p:nvPr/>
        </p:nvPicPr>
        <p:blipFill>
          <a:blip r:embed="rId8"/>
          <a:srcRect l="10216" t="12228" r="11759" b="6426"/>
          <a:stretch/>
        </p:blipFill>
        <p:spPr>
          <a:xfrm>
            <a:off x="849311" y="4048689"/>
            <a:ext cx="5741106" cy="4180911"/>
          </a:xfrm>
          <a:prstGeom prst="rect">
            <a:avLst/>
          </a:prstGeom>
        </p:spPr>
      </p:pic>
      <p:pic>
        <p:nvPicPr>
          <p:cNvPr id="29" name="Picture 28">
            <a:extLst>
              <a:ext uri="{FF2B5EF4-FFF2-40B4-BE49-F238E27FC236}">
                <a16:creationId xmlns:a16="http://schemas.microsoft.com/office/drawing/2014/main" id="{6A32EAE3-8722-5FB7-4127-F223A0F917CA}"/>
              </a:ext>
            </a:extLst>
          </p:cNvPr>
          <p:cNvPicPr>
            <a:picLocks noChangeAspect="1"/>
          </p:cNvPicPr>
          <p:nvPr/>
        </p:nvPicPr>
        <p:blipFill>
          <a:blip r:embed="rId9"/>
          <a:stretch>
            <a:fillRect/>
          </a:stretch>
        </p:blipFill>
        <p:spPr>
          <a:xfrm>
            <a:off x="14087998" y="3960756"/>
            <a:ext cx="7772400" cy="5129931"/>
          </a:xfrm>
          <a:prstGeom prst="rect">
            <a:avLst/>
          </a:prstGeom>
        </p:spPr>
      </p:pic>
      <p:pic>
        <p:nvPicPr>
          <p:cNvPr id="30" name="Picture 29">
            <a:extLst>
              <a:ext uri="{FF2B5EF4-FFF2-40B4-BE49-F238E27FC236}">
                <a16:creationId xmlns:a16="http://schemas.microsoft.com/office/drawing/2014/main" id="{D5BBA4FC-CFF3-6B53-792B-F38B990A4286}"/>
              </a:ext>
            </a:extLst>
          </p:cNvPr>
          <p:cNvPicPr>
            <a:picLocks noChangeAspect="1"/>
          </p:cNvPicPr>
          <p:nvPr/>
        </p:nvPicPr>
        <p:blipFill>
          <a:blip r:embed="rId10"/>
          <a:stretch>
            <a:fillRect/>
          </a:stretch>
        </p:blipFill>
        <p:spPr>
          <a:xfrm>
            <a:off x="6841396" y="6525721"/>
            <a:ext cx="7355086" cy="5006645"/>
          </a:xfrm>
          <a:prstGeom prst="rect">
            <a:avLst/>
          </a:prstGeom>
        </p:spPr>
      </p:pic>
      <p:sp>
        <p:nvSpPr>
          <p:cNvPr id="31" name="TextBox 30">
            <a:extLst>
              <a:ext uri="{FF2B5EF4-FFF2-40B4-BE49-F238E27FC236}">
                <a16:creationId xmlns:a16="http://schemas.microsoft.com/office/drawing/2014/main" id="{D71695A9-575B-2376-A1CF-146F3BE01729}"/>
              </a:ext>
            </a:extLst>
          </p:cNvPr>
          <p:cNvSpPr txBox="1"/>
          <p:nvPr/>
        </p:nvSpPr>
        <p:spPr>
          <a:xfrm>
            <a:off x="15749084" y="12140267"/>
            <a:ext cx="2550698" cy="646331"/>
          </a:xfrm>
          <a:prstGeom prst="rect">
            <a:avLst/>
          </a:prstGeom>
          <a:solidFill>
            <a:srgbClr val="002B75"/>
          </a:solidFill>
        </p:spPr>
        <p:txBody>
          <a:bodyPr wrap="none" rtlCol="0">
            <a:spAutoFit/>
          </a:bodyPr>
          <a:lstStyle/>
          <a:p>
            <a:r>
              <a:rPr lang="en-US" sz="3600" dirty="0">
                <a:solidFill>
                  <a:schemeClr val="bg1"/>
                </a:solidFill>
                <a:latin typeface="Quattrocento Sans" panose="020B0502050000020003" pitchFamily="34" charset="0"/>
                <a:ea typeface="CMU Serif Roman" panose="02000603000000000000" pitchFamily="2" charset="0"/>
                <a:cs typeface="CMU Serif Roman" panose="02000603000000000000" pitchFamily="2" charset="0"/>
              </a:rPr>
              <a:t> Discussion </a:t>
            </a:r>
          </a:p>
        </p:txBody>
      </p:sp>
      <p:sp>
        <p:nvSpPr>
          <p:cNvPr id="32" name="TextBox 31">
            <a:extLst>
              <a:ext uri="{FF2B5EF4-FFF2-40B4-BE49-F238E27FC236}">
                <a16:creationId xmlns:a16="http://schemas.microsoft.com/office/drawing/2014/main" id="{428F47FE-87DC-76D1-D4F4-E6A6CDE7FB71}"/>
              </a:ext>
            </a:extLst>
          </p:cNvPr>
          <p:cNvSpPr txBox="1"/>
          <p:nvPr/>
        </p:nvSpPr>
        <p:spPr>
          <a:xfrm>
            <a:off x="9642338" y="1978702"/>
            <a:ext cx="2660921" cy="923330"/>
          </a:xfrm>
          <a:prstGeom prst="rect">
            <a:avLst/>
          </a:prstGeom>
          <a:noFill/>
        </p:spPr>
        <p:txBody>
          <a:bodyPr wrap="none" rtlCol="0">
            <a:spAutoFit/>
          </a:bodyPr>
          <a:lstStyle/>
          <a:p>
            <a:pPr algn="ctr"/>
            <a:r>
              <a:rPr lang="en-US" dirty="0"/>
              <a:t>ap.r.pittman@gmail.com</a:t>
            </a:r>
          </a:p>
          <a:p>
            <a:pPr algn="ctr"/>
            <a:r>
              <a:rPr lang="en-US" dirty="0"/>
              <a:t>ap.pittman@duke.edu</a:t>
            </a:r>
          </a:p>
          <a:p>
            <a:endParaRPr lang="en-US" dirty="0"/>
          </a:p>
        </p:txBody>
      </p:sp>
      <p:sp>
        <p:nvSpPr>
          <p:cNvPr id="33" name="TextBox 32">
            <a:extLst>
              <a:ext uri="{FF2B5EF4-FFF2-40B4-BE49-F238E27FC236}">
                <a16:creationId xmlns:a16="http://schemas.microsoft.com/office/drawing/2014/main" id="{592F088C-82FC-DB19-C0BE-1F9748829C37}"/>
              </a:ext>
            </a:extLst>
          </p:cNvPr>
          <p:cNvSpPr txBox="1"/>
          <p:nvPr/>
        </p:nvSpPr>
        <p:spPr>
          <a:xfrm>
            <a:off x="18992381" y="381000"/>
            <a:ext cx="2628733" cy="369332"/>
          </a:xfrm>
          <a:prstGeom prst="rect">
            <a:avLst/>
          </a:prstGeom>
          <a:noFill/>
        </p:spPr>
        <p:txBody>
          <a:bodyPr wrap="none" rtlCol="0">
            <a:spAutoFit/>
          </a:bodyPr>
          <a:lstStyle/>
          <a:p>
            <a:r>
              <a:rPr lang="en-US" dirty="0"/>
              <a:t>Donate to Trans </a:t>
            </a:r>
            <a:r>
              <a:rPr lang="en-US" dirty="0" err="1"/>
              <a:t>LifeLine</a:t>
            </a:r>
            <a:r>
              <a:rPr lang="en-US" dirty="0"/>
              <a:t>:</a:t>
            </a:r>
          </a:p>
        </p:txBody>
      </p:sp>
      <p:sp>
        <p:nvSpPr>
          <p:cNvPr id="34" name="TextBox 33">
            <a:extLst>
              <a:ext uri="{FF2B5EF4-FFF2-40B4-BE49-F238E27FC236}">
                <a16:creationId xmlns:a16="http://schemas.microsoft.com/office/drawing/2014/main" id="{1097363D-968D-AE8E-28B8-EFE20D724F73}"/>
              </a:ext>
            </a:extLst>
          </p:cNvPr>
          <p:cNvSpPr txBox="1"/>
          <p:nvPr/>
        </p:nvSpPr>
        <p:spPr>
          <a:xfrm>
            <a:off x="13466334" y="12963991"/>
            <a:ext cx="8059363" cy="1754326"/>
          </a:xfrm>
          <a:prstGeom prst="rect">
            <a:avLst/>
          </a:prstGeom>
          <a:noFill/>
        </p:spPr>
        <p:txBody>
          <a:bodyPr wrap="square" rtlCol="0">
            <a:spAutoFit/>
          </a:bodyPr>
          <a:lstStyle/>
          <a:p>
            <a:pPr marL="285750" indent="-285750">
              <a:buFontTx/>
              <a:buChar char="-"/>
            </a:pPr>
            <a:r>
              <a:rPr lang="en-US" dirty="0"/>
              <a:t>Trans folks, although part of the LGBTQ+ community, are affected above and beyond their community members by the recent trend in legislation targeting trans people</a:t>
            </a:r>
          </a:p>
          <a:p>
            <a:pPr marL="285750" indent="-285750">
              <a:buFontTx/>
              <a:buChar char="-"/>
            </a:pPr>
            <a:r>
              <a:rPr lang="en-US" dirty="0"/>
              <a:t>How does the passage of these laws affect cis LGBQ+ folks? Women? Is this part of a larger gender-essentialist movement?</a:t>
            </a:r>
          </a:p>
          <a:p>
            <a:pPr marL="285750" indent="-285750">
              <a:buFontTx/>
              <a:buChar char="-"/>
            </a:pPr>
            <a:r>
              <a:rPr lang="en-US" dirty="0"/>
              <a:t>Does the passage of shield laws produce the inverse effect?</a:t>
            </a:r>
          </a:p>
        </p:txBody>
      </p:sp>
      <p:pic>
        <p:nvPicPr>
          <p:cNvPr id="35" name="Picture 34">
            <a:extLst>
              <a:ext uri="{FF2B5EF4-FFF2-40B4-BE49-F238E27FC236}">
                <a16:creationId xmlns:a16="http://schemas.microsoft.com/office/drawing/2014/main" id="{6549E5D0-0C59-938A-BE0A-716CB300AF8C}"/>
              </a:ext>
            </a:extLst>
          </p:cNvPr>
          <p:cNvPicPr>
            <a:picLocks noChangeAspect="1"/>
          </p:cNvPicPr>
          <p:nvPr/>
        </p:nvPicPr>
        <p:blipFill>
          <a:blip r:embed="rId11"/>
          <a:stretch>
            <a:fillRect/>
          </a:stretch>
        </p:blipFill>
        <p:spPr>
          <a:xfrm>
            <a:off x="417733" y="813641"/>
            <a:ext cx="1726623" cy="1715764"/>
          </a:xfrm>
          <a:prstGeom prst="rect">
            <a:avLst/>
          </a:prstGeom>
        </p:spPr>
      </p:pic>
      <p:pic>
        <p:nvPicPr>
          <p:cNvPr id="36" name="Picture 35">
            <a:extLst>
              <a:ext uri="{FF2B5EF4-FFF2-40B4-BE49-F238E27FC236}">
                <a16:creationId xmlns:a16="http://schemas.microsoft.com/office/drawing/2014/main" id="{34204DA6-891E-960B-0FE1-3BC966421CDA}"/>
              </a:ext>
            </a:extLst>
          </p:cNvPr>
          <p:cNvPicPr>
            <a:picLocks noChangeAspect="1"/>
          </p:cNvPicPr>
          <p:nvPr/>
        </p:nvPicPr>
        <p:blipFill>
          <a:blip r:embed="rId12"/>
          <a:stretch>
            <a:fillRect/>
          </a:stretch>
        </p:blipFill>
        <p:spPr>
          <a:xfrm>
            <a:off x="19801241" y="749047"/>
            <a:ext cx="1724456" cy="1702627"/>
          </a:xfrm>
          <a:prstGeom prst="rect">
            <a:avLst/>
          </a:prstGeom>
        </p:spPr>
      </p:pic>
    </p:spTree>
    <p:extLst>
      <p:ext uri="{BB962C8B-B14F-4D97-AF65-F5344CB8AC3E}">
        <p14:creationId xmlns:p14="http://schemas.microsoft.com/office/powerpoint/2010/main" val="40248679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1206</TotalTime>
  <Words>330</Words>
  <Application>Microsoft Macintosh PowerPoint</Application>
  <PresentationFormat>Custom</PresentationFormat>
  <Paragraphs>31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Quattrocento Sans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 Pittman</dc:creator>
  <cp:lastModifiedBy>AP Pittman</cp:lastModifiedBy>
  <cp:revision>5</cp:revision>
  <dcterms:created xsi:type="dcterms:W3CDTF">2025-04-07T19:15:51Z</dcterms:created>
  <dcterms:modified xsi:type="dcterms:W3CDTF">2025-04-08T15:22:39Z</dcterms:modified>
</cp:coreProperties>
</file>